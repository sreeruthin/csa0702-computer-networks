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7" r:id="rId2"/>
    <p:sldId id="259" r:id="rId3"/>
    <p:sldId id="260" r:id="rId4"/>
    <p:sldId id="278" r:id="rId5"/>
    <p:sldId id="277" r:id="rId6"/>
    <p:sldId id="279" r:id="rId7"/>
    <p:sldId id="281" r:id="rId8"/>
    <p:sldId id="275" r:id="rId9"/>
    <p:sldId id="284" r:id="rId10"/>
    <p:sldId id="276" r:id="rId11"/>
    <p:sldId id="285" r:id="rId12"/>
    <p:sldId id="266" r:id="rId13"/>
    <p:sldId id="286" r:id="rId14"/>
    <p:sldId id="282" r:id="rId15"/>
    <p:sldId id="287" r:id="rId16"/>
    <p:sldId id="283" r:id="rId17"/>
    <p:sldId id="288" r:id="rId18"/>
    <p:sldId id="274" r:id="rId19"/>
    <p:sldId id="264" r:id="rId20"/>
    <p:sldId id="272" r:id="rId21"/>
    <p:sldId id="273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353" autoAdjust="0"/>
  </p:normalViewPr>
  <p:slideViewPr>
    <p:cSldViewPr snapToGrid="0">
      <p:cViewPr varScale="1">
        <p:scale>
          <a:sx n="95" d="100"/>
          <a:sy n="95" d="100"/>
        </p:scale>
        <p:origin x="20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727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DCD57B-68B9-425D-BC22-9917B18863A7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104872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104872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3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73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C44CE4-61F3-490F-BCA1-B677613E6630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C44CE4-61F3-490F-BCA1-B677613E6630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20-03-2025</a:t>
            </a:r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</a:t>
            </a:r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D0AF3-9F5E-4D9C-805E-F7D91DB367E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0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0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20-03-2025</a:t>
            </a:r>
          </a:p>
        </p:txBody>
      </p:sp>
      <p:sp>
        <p:nvSpPr>
          <p:cNvPr id="104860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</a:t>
            </a:r>
          </a:p>
        </p:txBody>
      </p:sp>
      <p:sp>
        <p:nvSpPr>
          <p:cNvPr id="104860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D0AF3-9F5E-4D9C-805E-F7D91DB367E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1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02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0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20-03-2025</a:t>
            </a:r>
          </a:p>
        </p:txBody>
      </p:sp>
      <p:sp>
        <p:nvSpPr>
          <p:cNvPr id="104870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</a:t>
            </a:r>
          </a:p>
        </p:txBody>
      </p:sp>
      <p:sp>
        <p:nvSpPr>
          <p:cNvPr id="104870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D0AF3-9F5E-4D9C-805E-F7D91DB367E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07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08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0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20-03-2025</a:t>
            </a:r>
          </a:p>
        </p:txBody>
      </p:sp>
      <p:sp>
        <p:nvSpPr>
          <p:cNvPr id="10487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</a:t>
            </a:r>
          </a:p>
        </p:txBody>
      </p:sp>
      <p:sp>
        <p:nvSpPr>
          <p:cNvPr id="104871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D0AF3-9F5E-4D9C-805E-F7D91DB367E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1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1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1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1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1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20-03-2025</a:t>
            </a:r>
          </a:p>
        </p:txBody>
      </p:sp>
      <p:sp>
        <p:nvSpPr>
          <p:cNvPr id="104871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</a:t>
            </a:r>
          </a:p>
        </p:txBody>
      </p:sp>
      <p:sp>
        <p:nvSpPr>
          <p:cNvPr id="104871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D0AF3-9F5E-4D9C-805E-F7D91DB367E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8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20-03-2025</a:t>
            </a:r>
          </a:p>
        </p:txBody>
      </p:sp>
      <p:sp>
        <p:nvSpPr>
          <p:cNvPr id="104868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</a:t>
            </a:r>
          </a:p>
        </p:txBody>
      </p:sp>
      <p:sp>
        <p:nvSpPr>
          <p:cNvPr id="104868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D0AF3-9F5E-4D9C-805E-F7D91DB367E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20-03-2025</a:t>
            </a:r>
          </a:p>
        </p:txBody>
      </p:sp>
      <p:sp>
        <p:nvSpPr>
          <p:cNvPr id="104859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</a:t>
            </a:r>
          </a:p>
        </p:txBody>
      </p:sp>
      <p:sp>
        <p:nvSpPr>
          <p:cNvPr id="104859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D0AF3-9F5E-4D9C-805E-F7D91DB367E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0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21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22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2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20-03-2025</a:t>
            </a:r>
          </a:p>
        </p:txBody>
      </p:sp>
      <p:sp>
        <p:nvSpPr>
          <p:cNvPr id="104872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</a:t>
            </a:r>
          </a:p>
        </p:txBody>
      </p:sp>
      <p:sp>
        <p:nvSpPr>
          <p:cNvPr id="104872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D0AF3-9F5E-4D9C-805E-F7D91DB367E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0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91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1048692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9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20-03-2025</a:t>
            </a:r>
          </a:p>
        </p:txBody>
      </p:sp>
      <p:sp>
        <p:nvSpPr>
          <p:cNvPr id="104869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</a:t>
            </a:r>
          </a:p>
        </p:txBody>
      </p:sp>
      <p:sp>
        <p:nvSpPr>
          <p:cNvPr id="104869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D0AF3-9F5E-4D9C-805E-F7D91DB367E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97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9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20-03-2025</a:t>
            </a:r>
          </a:p>
        </p:txBody>
      </p:sp>
      <p:sp>
        <p:nvSpPr>
          <p:cNvPr id="104869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</a:t>
            </a:r>
          </a:p>
        </p:txBody>
      </p:sp>
      <p:sp>
        <p:nvSpPr>
          <p:cNvPr id="104870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D0AF3-9F5E-4D9C-805E-F7D91DB367E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5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86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8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20-03-2025</a:t>
            </a:r>
          </a:p>
        </p:txBody>
      </p:sp>
      <p:sp>
        <p:nvSpPr>
          <p:cNvPr id="104868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</a:t>
            </a:r>
          </a:p>
        </p:txBody>
      </p:sp>
      <p:sp>
        <p:nvSpPr>
          <p:cNvPr id="104868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D0AF3-9F5E-4D9C-805E-F7D91DB367E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/>
              <a:t>20-03-2025</a:t>
            </a:r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/>
              <a:t>Capstone Project</a:t>
            </a:r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8D0AF3-9F5E-4D9C-805E-F7D91DB367EF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Title 1"/>
          <p:cNvSpPr>
            <a:spLocks noGrp="1"/>
          </p:cNvSpPr>
          <p:nvPr>
            <p:ph type="ctrTitle"/>
          </p:nvPr>
        </p:nvSpPr>
        <p:spPr>
          <a:xfrm>
            <a:off x="1081405" y="1943735"/>
            <a:ext cx="10569575" cy="1271270"/>
          </a:xfrm>
        </p:spPr>
        <p:txBody>
          <a:bodyPr>
            <a:no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Implementation of a Secure Network-Based File Transfer and Sharing System</a:t>
            </a:r>
          </a:p>
        </p:txBody>
      </p:sp>
      <p:sp>
        <p:nvSpPr>
          <p:cNvPr id="104859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D0AF3-9F5E-4D9C-805E-F7D91DB367EF}" type="slidenum">
              <a:rPr lang="en-IN" smtClean="0"/>
              <a:t>1</a:t>
            </a:fld>
            <a:endParaRPr lang="en-IN"/>
          </a:p>
        </p:txBody>
      </p:sp>
      <p:pic>
        <p:nvPicPr>
          <p:cNvPr id="2097183" name="Google Shape;100;p13" descr="SSE-Computer Science and Engineering"/>
          <p:cNvPicPr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30234" y="262778"/>
            <a:ext cx="11610108" cy="110963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7885430" y="4702810"/>
            <a:ext cx="3765550" cy="16535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 BY:-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VARSHAN G(19241054)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V.SREE RUTHIN REDDY(192324112)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V.SHEERSHIKA(192472056)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VISHAL M(192565077)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Y.MANOJ KUMAR(192311141)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97940" y="3591560"/>
            <a:ext cx="10109835" cy="734695"/>
          </a:xfrm>
        </p:spPr>
        <p:txBody>
          <a:bodyPr>
            <a:normAutofit fontScale="95000"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CSA0702: COMPUTER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7940" y="4702810"/>
            <a:ext cx="5038692" cy="12077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FACULTY 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Dr.R.Senthamil Selvan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B.E,M.Tech(CS),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M.Tech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(CSE),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Phd,MISTE,FIETE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ECE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SIMATS Engineering Saveetha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University,Thandalam,Chennai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Title 1"/>
          <p:cNvSpPr>
            <a:spLocks noGrp="1"/>
          </p:cNvSpPr>
          <p:nvPr>
            <p:ph type="title"/>
          </p:nvPr>
        </p:nvSpPr>
        <p:spPr>
          <a:xfrm>
            <a:off x="653800" y="54367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4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D0AF3-9F5E-4D9C-805E-F7D91DB367EF}" type="slidenum">
              <a:rPr lang="en-IN" smtClean="0"/>
              <a:t>2</a:t>
            </a:fld>
            <a:endParaRPr lang="en-IN"/>
          </a:p>
        </p:txBody>
      </p:sp>
      <p:pic>
        <p:nvPicPr>
          <p:cNvPr id="2097154" name="Picture 6"/>
          <p:cNvPicPr/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2097155" name="Picture 7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330730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08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90638" y="3879374"/>
            <a:ext cx="9371919" cy="70103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48609" name="TextBox 10"/>
          <p:cNvSpPr txBox="1"/>
          <p:nvPr/>
        </p:nvSpPr>
        <p:spPr>
          <a:xfrm>
            <a:off x="714286" y="1933575"/>
            <a:ext cx="7806259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develops a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client-server file transfer and sharing system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that allows users to upload, download, store, and share files safely over a network.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AES encryption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protect files, 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password hashing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secure user passwords, and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control (RBAC)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allow only authorized users to access files.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built using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TCP/IP protocol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Socket Programming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JDBC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provide secure communication and reliable file management between the client and server.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also keeps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logs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of user actions such as login, file upload, download, and sharing, helping improve security, monitoring, and overall system reliability.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10" name="Rectangle 4"/>
          <p:cNvSpPr>
            <a:spLocks noChangeArrowheads="1"/>
          </p:cNvSpPr>
          <p:nvPr/>
        </p:nvSpPr>
        <p:spPr bwMode="auto">
          <a:xfrm>
            <a:off x="0" y="-350519"/>
            <a:ext cx="182880" cy="70103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Picture 1" descr="FTP vs SFTP: Choosing the Right Protocol for Secure File Transfers">
            <a:extLst>
              <a:ext uri="{FF2B5EF4-FFF2-40B4-BE49-F238E27FC236}">
                <a16:creationId xmlns:a16="http://schemas.microsoft.com/office/drawing/2014/main" id="{E1680423-1FBC-7C71-D348-9D83D555A2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0545" y="1737360"/>
            <a:ext cx="3599411" cy="408986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FA02A9B-D0E9-304D-F702-DA68CB16CED5}"/>
              </a:ext>
            </a:extLst>
          </p:cNvPr>
          <p:cNvSpPr txBox="1"/>
          <p:nvPr/>
        </p:nvSpPr>
        <p:spPr>
          <a:xfrm>
            <a:off x="8758989" y="5566611"/>
            <a:ext cx="32164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Fig.1 Introduction of Secure Network Based File System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Title 1"/>
          <p:cNvSpPr>
            <a:spLocks noGrp="1"/>
          </p:cNvSpPr>
          <p:nvPr>
            <p:ph type="title"/>
          </p:nvPr>
        </p:nvSpPr>
        <p:spPr>
          <a:xfrm>
            <a:off x="575187" y="34726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PROBLEM STATEMENT</a:t>
            </a:r>
            <a:r>
              <a:rPr lang="en-US" sz="32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1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D0AF3-9F5E-4D9C-805E-F7D91DB367EF}" type="slidenum">
              <a:rPr lang="en-IN" smtClean="0"/>
              <a:t>3</a:t>
            </a:fld>
            <a:endParaRPr lang="en-IN"/>
          </a:p>
        </p:txBody>
      </p:sp>
      <p:pic>
        <p:nvPicPr>
          <p:cNvPr id="2097156" name="Picture 6"/>
          <p:cNvPicPr/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2097157" name="Picture 7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330730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Protect Your Data: share files online securely in 2026">
            <a:extLst>
              <a:ext uri="{FF2B5EF4-FFF2-40B4-BE49-F238E27FC236}">
                <a16:creationId xmlns:a16="http://schemas.microsoft.com/office/drawing/2014/main" id="{A8E2D858-EA21-E82F-7599-9363D663AF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3434" y="1413162"/>
            <a:ext cx="5228706" cy="26165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1EE9128-7685-C0E3-33A5-927EA306EF96}"/>
              </a:ext>
            </a:extLst>
          </p:cNvPr>
          <p:cNvSpPr txBox="1"/>
          <p:nvPr/>
        </p:nvSpPr>
        <p:spPr>
          <a:xfrm>
            <a:off x="1837113" y="3875178"/>
            <a:ext cx="9253674" cy="1894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just">
              <a:lnSpc>
                <a:spcPct val="150000"/>
              </a:lnSpc>
              <a:buNone/>
            </a:pPr>
            <a:r>
              <a:rPr lang="en-IN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Many existing file transfer systems have security weaknesses that can put sensitive data at risk.</a:t>
            </a:r>
          </a:p>
          <a:p>
            <a:pPr marL="0" marR="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Files transferred over a network may be accessed or intercepted by unauthorized users.</a:t>
            </a:r>
          </a:p>
          <a:p>
            <a:pPr marL="0" marR="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Many systems do not provide strong authentication or proper user access control.</a:t>
            </a:r>
          </a:p>
          <a:p>
            <a:pPr marL="0" marR="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Files are often stored without encryption, increasing the risk of data theft or modification.</a:t>
            </a:r>
          </a:p>
          <a:p>
            <a:pPr marL="0" marR="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activity logging makes it difficult to monitor user actions and detect security issues.</a:t>
            </a:r>
            <a:endParaRPr lang="en-IN" sz="1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D0AF3-9F5E-4D9C-805E-F7D91DB367EF}" type="slidenum">
              <a:rPr lang="en-IN" smtClean="0"/>
              <a:t>4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1492885" y="669925"/>
            <a:ext cx="8691880" cy="9105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pic>
        <p:nvPicPr>
          <p:cNvPr id="8" name="Picture 6"/>
          <p:cNvPicPr/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9" name="Picture 7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330730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5B12D60-13DE-04C3-2F0B-B8432BBF05FA}"/>
              </a:ext>
            </a:extLst>
          </p:cNvPr>
          <p:cNvSpPr txBox="1"/>
          <p:nvPr/>
        </p:nvSpPr>
        <p:spPr>
          <a:xfrm>
            <a:off x="1022466" y="2058814"/>
            <a:ext cx="6392488" cy="3788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just">
              <a:lnSpc>
                <a:spcPct val="150000"/>
              </a:lnSpc>
              <a:buNone/>
            </a:pPr>
            <a:r>
              <a:rPr lang="en-IN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objectives of this project are:</a:t>
            </a:r>
          </a:p>
          <a:p>
            <a:pPr marL="0" marR="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 secure client-server file transfer and sharing system.</a:t>
            </a:r>
          </a:p>
          <a:p>
            <a:pPr marL="0" marR="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Protect user accounts using secure authentication and password hashing.</a:t>
            </a:r>
          </a:p>
          <a:p>
            <a:pPr marL="0" marR="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Encrypt files before transmission to ensure data confidentiality.</a:t>
            </a:r>
          </a:p>
          <a:p>
            <a:pPr marL="0" marR="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 files securely and manage file information in a database.</a:t>
            </a:r>
          </a:p>
          <a:p>
            <a:pPr marL="0" marR="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Allow secure file sharing with role-based access permissions.</a:t>
            </a:r>
          </a:p>
          <a:p>
            <a:pPr marL="0" marR="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Monitor user activities by maintaining audit logs and system records.</a:t>
            </a:r>
          </a:p>
        </p:txBody>
      </p:sp>
      <p:pic>
        <p:nvPicPr>
          <p:cNvPr id="5" name="Picture 4" descr="SFTP - Secure File Transfer Protocol acronym">
            <a:extLst>
              <a:ext uri="{FF2B5EF4-FFF2-40B4-BE49-F238E27FC236}">
                <a16:creationId xmlns:a16="http://schemas.microsoft.com/office/drawing/2014/main" id="{4403EEB4-9123-202A-DCD4-58775C3EEB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1705" y="1580514"/>
            <a:ext cx="4525371" cy="43713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F148A64-38D3-FE2C-7EB8-3F00AFDB0023}"/>
              </a:ext>
            </a:extLst>
          </p:cNvPr>
          <p:cNvSpPr txBox="1"/>
          <p:nvPr/>
        </p:nvSpPr>
        <p:spPr>
          <a:xfrm>
            <a:off x="8053137" y="5662863"/>
            <a:ext cx="3505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Fig.2 Objectives of the Project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4144" y="529281"/>
            <a:ext cx="7045036" cy="909493"/>
          </a:xfrm>
        </p:spPr>
        <p:txBody>
          <a:bodyPr>
            <a:normAutofit/>
          </a:bodyPr>
          <a:lstStyle/>
          <a:p>
            <a:pPr algn="ctr"/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D0AF3-9F5E-4D9C-805E-F7D91DB367EF}" type="slidenum">
              <a:rPr lang="en-IN" smtClean="0"/>
              <a:t>5</a:t>
            </a:fld>
            <a:endParaRPr lang="en-IN"/>
          </a:p>
        </p:txBody>
      </p:sp>
      <p:pic>
        <p:nvPicPr>
          <p:cNvPr id="7" name="Picture 6"/>
          <p:cNvPicPr/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8" name="Picture 7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330730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07D466E-0E9F-9701-CD0D-F260CEAE13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0178748"/>
              </p:ext>
            </p:extLst>
          </p:nvPr>
        </p:nvGraphicFramePr>
        <p:xfrm>
          <a:off x="1492469" y="1916700"/>
          <a:ext cx="9567949" cy="366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387">
                  <a:extLst>
                    <a:ext uri="{9D8B030D-6E8A-4147-A177-3AD203B41FA5}">
                      <a16:colId xmlns:a16="http://schemas.microsoft.com/office/drawing/2014/main" val="57297161"/>
                    </a:ext>
                  </a:extLst>
                </a:gridCol>
                <a:gridCol w="3298281">
                  <a:extLst>
                    <a:ext uri="{9D8B030D-6E8A-4147-A177-3AD203B41FA5}">
                      <a16:colId xmlns:a16="http://schemas.microsoft.com/office/drawing/2014/main" val="271487875"/>
                    </a:ext>
                  </a:extLst>
                </a:gridCol>
                <a:gridCol w="3298281">
                  <a:extLst>
                    <a:ext uri="{9D8B030D-6E8A-4147-A177-3AD203B41FA5}">
                      <a16:colId xmlns:a16="http://schemas.microsoft.com/office/drawing/2014/main" val="4231135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System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Drawback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Our Proposed Solution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2212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Basic FTP File Transfer System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Files are transferred without encryption, making data vulnerable to interception.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</a:t>
                      </a: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AES Encryption</a:t>
                      </a: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 protect files during transmission.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42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Traditional File Sharing System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 user authentication and no proper access control.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</a:t>
                      </a: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BCrypt Password Hashing</a:t>
                      </a: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</a:t>
                      </a: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Role-Based Access Control (RBAC)</a:t>
                      </a: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secure authentication and authorization.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6154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Conventional Client-Server File Transfer System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activity logging or monitoring of user actions.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Maintains </a:t>
                      </a: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Audit Logs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 record logins, file uploads, downloads, and sharing activities for better security.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969616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647DE3A-6DFD-79F7-7A7C-17A68051FFB4}"/>
              </a:ext>
            </a:extLst>
          </p:cNvPr>
          <p:cNvSpPr txBox="1"/>
          <p:nvPr/>
        </p:nvSpPr>
        <p:spPr>
          <a:xfrm>
            <a:off x="4547936" y="5767137"/>
            <a:ext cx="38661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Table.1 Literature Review of Existing Systems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6778" y="410210"/>
            <a:ext cx="5598622" cy="1325880"/>
          </a:xfrm>
        </p:spPr>
        <p:txBody>
          <a:bodyPr>
            <a:normAutofit/>
          </a:bodyPr>
          <a:lstStyle/>
          <a:p>
            <a:r>
              <a:rPr lang="en-US" alt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alt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US" alt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645275"/>
            <a:ext cx="2743200" cy="76200"/>
          </a:xfrm>
        </p:spPr>
        <p:txBody>
          <a:bodyPr/>
          <a:lstStyle/>
          <a:p>
            <a:r>
              <a:rPr lang="en-US" altLang="en-IN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IN"/>
              <a:t>6</a:t>
            </a:r>
          </a:p>
        </p:txBody>
      </p:sp>
      <p:pic>
        <p:nvPicPr>
          <p:cNvPr id="7" name="Picture 6"/>
          <p:cNvPicPr/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8" name="Picture 7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330730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7890EDF-E192-E834-23C6-159F6E4DEA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981" y="1736090"/>
            <a:ext cx="11413470" cy="46202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55AF3AA-6BE2-48F3-7A11-30C9BE8B2E30}"/>
              </a:ext>
            </a:extLst>
          </p:cNvPr>
          <p:cNvSpPr txBox="1"/>
          <p:nvPr/>
        </p:nvSpPr>
        <p:spPr>
          <a:xfrm>
            <a:off x="3673642" y="6071937"/>
            <a:ext cx="40265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Fig.3 Project Workflow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12FC2-86F9-BBDB-7582-009A44AAD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D0AF3-9F5E-4D9C-805E-F7D91DB367EF}" type="slidenum">
              <a:rPr lang="en-IN" smtClean="0"/>
              <a:t>7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6C13AF-B668-AA26-CD6B-685B1393066A}"/>
              </a:ext>
            </a:extLst>
          </p:cNvPr>
          <p:cNvSpPr txBox="1"/>
          <p:nvPr/>
        </p:nvSpPr>
        <p:spPr>
          <a:xfrm>
            <a:off x="3404755" y="3274413"/>
            <a:ext cx="609738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-342900" algn="l">
              <a:spcAft>
                <a:spcPts val="300"/>
              </a:spcAft>
              <a:buFont typeface="+mj-lt"/>
              <a:buAutoNum type="arabicPeriod"/>
            </a:pPr>
            <a:r>
              <a:rPr lang="en-IN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&amp; Authorization Module</a:t>
            </a:r>
            <a:endParaRPr lang="en-IN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-342900" algn="l">
              <a:spcAft>
                <a:spcPts val="300"/>
              </a:spcAft>
              <a:buFont typeface="+mj-lt"/>
              <a:buAutoNum type="arabicPeriod"/>
            </a:pPr>
            <a:r>
              <a:rPr lang="en-IN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File Storage Module</a:t>
            </a:r>
            <a:endParaRPr lang="en-IN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-342900" algn="l">
              <a:spcAft>
                <a:spcPts val="300"/>
              </a:spcAft>
              <a:buFont typeface="+mj-lt"/>
              <a:buAutoNum type="arabicPeriod"/>
            </a:pPr>
            <a:r>
              <a:rPr lang="en-IN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Encrypted File Transmission Module</a:t>
            </a:r>
            <a:endParaRPr lang="en-IN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-342900" algn="l">
              <a:spcAft>
                <a:spcPts val="300"/>
              </a:spcAft>
              <a:buFont typeface="+mj-lt"/>
              <a:buAutoNum type="arabicPeriod"/>
            </a:pPr>
            <a:r>
              <a:rPr lang="en-IN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Access Control &amp; File Sharing Module</a:t>
            </a:r>
            <a:endParaRPr lang="en-IN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-342900" algn="l">
              <a:spcAft>
                <a:spcPts val="300"/>
              </a:spcAft>
              <a:buFont typeface="+mj-lt"/>
              <a:buAutoNum type="arabicPeriod"/>
            </a:pPr>
            <a:r>
              <a:rPr lang="en-IN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Audit Logging &amp; Network Monitoring Module</a:t>
            </a:r>
            <a:endParaRPr lang="en-IN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C73947C-40F3-941F-A88C-1C6632F76EA2}"/>
              </a:ext>
            </a:extLst>
          </p:cNvPr>
          <p:cNvPicPr/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92EB98B-8599-504E-AEB0-9DCDF64B0198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330730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9D84C66-9692-75B9-743A-5234FC34CB9B}"/>
              </a:ext>
            </a:extLst>
          </p:cNvPr>
          <p:cNvSpPr txBox="1"/>
          <p:nvPr/>
        </p:nvSpPr>
        <p:spPr>
          <a:xfrm>
            <a:off x="3803766" y="733237"/>
            <a:ext cx="60973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300"/>
              </a:spcAft>
              <a:buNone/>
            </a:pPr>
            <a:r>
              <a:rPr lang="en-IN" sz="3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MODULES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6DA9EF-8291-4DF5-DA0E-F8C17DD22124}"/>
              </a:ext>
            </a:extLst>
          </p:cNvPr>
          <p:cNvSpPr txBox="1"/>
          <p:nvPr/>
        </p:nvSpPr>
        <p:spPr>
          <a:xfrm>
            <a:off x="1111828" y="2127349"/>
            <a:ext cx="109998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is divided into five major modules, each responsible for a specific security and file management function.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3819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5099" y="849302"/>
            <a:ext cx="9277003" cy="97180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MODULE-1: </a:t>
            </a:r>
            <a:r>
              <a:rPr lang="en-IN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&amp; AUTHORIZATION MODULE</a:t>
            </a:r>
            <a:br>
              <a:rPr lang="en-IN" b="1" dirty="0"/>
            </a:b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5463" y="1654624"/>
            <a:ext cx="7310762" cy="44818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register and log in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securely,verifies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identity before granting access.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Controls access based on user roles and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permissions,Protects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accounts from unauthorized access.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Password Hashing , JDBC, MySQL Database, Role-Based Access Control (RBAC) , User Session Management</a:t>
            </a:r>
          </a:p>
          <a:p>
            <a:pPr marL="0" lvl="0" indent="0"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Parameters</a:t>
            </a:r>
          </a:p>
          <a:p>
            <a:pPr lvl="0">
              <a:lnSpc>
                <a:spcPct val="10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Username , Password , User Role</a:t>
            </a:r>
          </a:p>
          <a:p>
            <a:pPr marL="0" lvl="0" indent="0"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Parameters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User Authentication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Authorized User Access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 User Session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Protected User Credentials</a:t>
            </a:r>
          </a:p>
          <a:p>
            <a:pPr marL="0" indent="0">
              <a:buNone/>
            </a:pPr>
            <a:br>
              <a:rPr lang="en-IN" sz="1600" dirty="0"/>
            </a:br>
            <a:endParaRPr lang="en-US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D0AF3-9F5E-4D9C-805E-F7D91DB367EF}" type="slidenum">
              <a:rPr lang="en-IN" smtClean="0"/>
              <a:t>8</a:t>
            </a:fld>
            <a:endParaRPr lang="en-IN"/>
          </a:p>
        </p:txBody>
      </p:sp>
      <p:pic>
        <p:nvPicPr>
          <p:cNvPr id="7" name="Picture 6"/>
          <p:cNvPicPr/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270641" y="241935"/>
            <a:ext cx="1135117" cy="1342884"/>
          </a:xfrm>
          <a:prstGeom prst="rect">
            <a:avLst/>
          </a:prstGeom>
          <a:noFill/>
        </p:spPr>
      </p:pic>
      <p:pic>
        <p:nvPicPr>
          <p:cNvPr id="8" name="Picture 7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401245" y="242165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Authentication Illustrations - Free Download in SVG, PNG">
            <a:extLst>
              <a:ext uri="{FF2B5EF4-FFF2-40B4-BE49-F238E27FC236}">
                <a16:creationId xmlns:a16="http://schemas.microsoft.com/office/drawing/2014/main" id="{1670E3B7-EFD8-95FE-769F-98C53D9E75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4908" y="1874520"/>
            <a:ext cx="3757354" cy="42862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75B663A-9ADB-0B03-3DC9-A9AD2DA45A06}"/>
              </a:ext>
            </a:extLst>
          </p:cNvPr>
          <p:cNvSpPr txBox="1"/>
          <p:nvPr/>
        </p:nvSpPr>
        <p:spPr>
          <a:xfrm>
            <a:off x="8610600" y="6136454"/>
            <a:ext cx="26459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Fig.4 Authentication and Authorization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59DCC-76B4-230E-5018-33C131109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2126" y="365125"/>
            <a:ext cx="8829119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Output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86D3D-6002-9E17-3506-338ADA60F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D0AF3-9F5E-4D9C-805E-F7D91DB367EF}" type="slidenum">
              <a:rPr lang="en-IN" smtClean="0"/>
              <a:t>9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72161AE-4362-F38D-BB9F-EC2FAD65D9F3}"/>
              </a:ext>
            </a:extLst>
          </p:cNvPr>
          <p:cNvPicPr/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270641" y="241935"/>
            <a:ext cx="1135117" cy="1342884"/>
          </a:xfrm>
          <a:prstGeom prst="rect">
            <a:avLst/>
          </a:prstGeom>
          <a:noFill/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9F7748-E36A-C5E1-0133-926A42829EEA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401245" y="242165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3F887EF-0D30-12BB-635F-01E74F9F20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8897" y="1584818"/>
            <a:ext cx="3833914" cy="420388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CAC5A25-43F3-272D-4949-E82414169E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192" y="1584819"/>
            <a:ext cx="4077053" cy="420388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9661155-F4BA-07AC-F92F-22C53572DB04}"/>
              </a:ext>
            </a:extLst>
          </p:cNvPr>
          <p:cNvSpPr txBox="1"/>
          <p:nvPr/>
        </p:nvSpPr>
        <p:spPr>
          <a:xfrm>
            <a:off x="2426368" y="5887859"/>
            <a:ext cx="32244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Fig.5 Login Page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EA1157-E631-78A6-FDEC-6F3DC002763F}"/>
              </a:ext>
            </a:extLst>
          </p:cNvPr>
          <p:cNvSpPr txBox="1"/>
          <p:nvPr/>
        </p:nvSpPr>
        <p:spPr>
          <a:xfrm>
            <a:off x="7355306" y="5832120"/>
            <a:ext cx="26870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Fig.6 Register Page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0306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3743" y="749340"/>
            <a:ext cx="7570839" cy="947380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MODULE-2: </a:t>
            </a:r>
            <a:r>
              <a:rPr lang="en-IN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FILE STORAGE MODULE</a:t>
            </a:r>
            <a:br>
              <a:rPr lang="en-IN" b="1" dirty="0"/>
            </a:b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9131" y="1955938"/>
            <a:ext cx="6575945" cy="39909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lvl="0"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uploaded files securely on the server , Organizes files for easy management and retrieval.</a:t>
            </a:r>
          </a:p>
          <a:p>
            <a:pPr lvl="0"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file information such as name, type, and size , Prevents unauthorized access to stored files.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File I/O , MySQL Database , JDBC Connectivity , Server File Storage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Parameters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Name , File Type , File Size , Storage Location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File Storage , Organized File Management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Stored File Metadata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File Retrieval</a:t>
            </a:r>
            <a:br>
              <a:rPr lang="en-IN" sz="1800" dirty="0"/>
            </a:b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D0AF3-9F5E-4D9C-805E-F7D91DB367EF}" type="slidenum">
              <a:rPr lang="en-IN" smtClean="0"/>
              <a:t>10</a:t>
            </a:fld>
            <a:endParaRPr lang="en-IN"/>
          </a:p>
        </p:txBody>
      </p:sp>
      <p:pic>
        <p:nvPicPr>
          <p:cNvPr id="7" name="Picture 6"/>
          <p:cNvPicPr/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447622" y="451158"/>
            <a:ext cx="1135117" cy="1342884"/>
          </a:xfrm>
          <a:prstGeom prst="rect">
            <a:avLst/>
          </a:prstGeom>
          <a:noFill/>
        </p:spPr>
      </p:pic>
      <p:pic>
        <p:nvPicPr>
          <p:cNvPr id="8" name="Picture 7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935587" y="401996"/>
            <a:ext cx="134430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Data storage security on cloud servers technology infographics flat isometric 3d illustration">
            <a:extLst>
              <a:ext uri="{FF2B5EF4-FFF2-40B4-BE49-F238E27FC236}">
                <a16:creationId xmlns:a16="http://schemas.microsoft.com/office/drawing/2014/main" id="{5CAA5983-D07F-27BC-C93F-697CC1C4AE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0779" y="2202476"/>
            <a:ext cx="4189615" cy="37444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0F2C0E3-5C91-5CB4-CA9A-4D7916FE6CF3}"/>
              </a:ext>
            </a:extLst>
          </p:cNvPr>
          <p:cNvSpPr txBox="1"/>
          <p:nvPr/>
        </p:nvSpPr>
        <p:spPr>
          <a:xfrm>
            <a:off x="8758989" y="5807242"/>
            <a:ext cx="25209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Fig.7 Secure File Storage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2B9A3FC9-B11C-0E2C-3FDA-558630BB18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0209" y="1882687"/>
            <a:ext cx="4304318" cy="401608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36DC2-F7F7-CC18-89AA-4B8148BA3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D0AF3-9F5E-4D9C-805E-F7D91DB367EF}" type="slidenum">
              <a:rPr lang="en-IN" smtClean="0"/>
              <a:t>11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53D2258-F484-9B24-5D5A-768979E62544}"/>
              </a:ext>
            </a:extLst>
          </p:cNvPr>
          <p:cNvPicPr/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447622" y="451158"/>
            <a:ext cx="1135117" cy="1342884"/>
          </a:xfrm>
          <a:prstGeom prst="rect">
            <a:avLst/>
          </a:prstGeom>
          <a:noFill/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13D153-A4A8-62CE-728F-F01815A53CBA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935587" y="401996"/>
            <a:ext cx="1344307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040BED2-210F-3F9A-CA1E-51F673C0384D}"/>
              </a:ext>
            </a:extLst>
          </p:cNvPr>
          <p:cNvSpPr txBox="1"/>
          <p:nvPr/>
        </p:nvSpPr>
        <p:spPr>
          <a:xfrm>
            <a:off x="2057400" y="655672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Output</a:t>
            </a:r>
            <a:endParaRPr lang="en-IN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B1F8C93-BE04-C574-CCC5-09306613F0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882687"/>
            <a:ext cx="4446655" cy="401608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C3D5BDC-753B-DDC3-A032-AAF1D7498FB1}"/>
              </a:ext>
            </a:extLst>
          </p:cNvPr>
          <p:cNvSpPr txBox="1"/>
          <p:nvPr/>
        </p:nvSpPr>
        <p:spPr>
          <a:xfrm>
            <a:off x="1836820" y="5898775"/>
            <a:ext cx="29677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8 Upload file page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3BA3D4-4ADE-697F-6E13-F70478C24DD4}"/>
              </a:ext>
            </a:extLst>
          </p:cNvPr>
          <p:cNvSpPr txBox="1"/>
          <p:nvPr/>
        </p:nvSpPr>
        <p:spPr>
          <a:xfrm>
            <a:off x="6874042" y="5987017"/>
            <a:ext cx="2743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9 Uploaded Files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6542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Title 1"/>
          <p:cNvSpPr>
            <a:spLocks noGrp="1"/>
          </p:cNvSpPr>
          <p:nvPr>
            <p:ph type="title"/>
          </p:nvPr>
        </p:nvSpPr>
        <p:spPr>
          <a:xfrm>
            <a:off x="1509395" y="496570"/>
            <a:ext cx="8833485" cy="1111885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MODULE-3: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ENCRYPTED FILE TRANSMISSION MODULE</a:t>
            </a:r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42" name="Content Placeholder 2"/>
          <p:cNvSpPr>
            <a:spLocks noGrp="1"/>
          </p:cNvSpPr>
          <p:nvPr>
            <p:ph idx="1"/>
          </p:nvPr>
        </p:nvSpPr>
        <p:spPr>
          <a:xfrm>
            <a:off x="575310" y="1831975"/>
            <a:ext cx="6656763" cy="473837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lvl="0"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Encrypts files before they are sent over the network , Transfers files securely using the TCP/IP protocol.</a:t>
            </a:r>
          </a:p>
          <a:p>
            <a:pPr lvl="0"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Decrypts files after successful transmission , Protects data from unauthorized access during transfer.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AES Encryption , Java Socket Programming , TCP/IP Protocol , Java Networking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Parameters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, Encryption Key , Network Connection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Encrypted File Transfer , Secure Network Communication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 File Delivery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Confidentiality</a:t>
            </a:r>
            <a:br>
              <a:rPr lang="en-IN" sz="1600" dirty="0"/>
            </a:b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4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D0AF3-9F5E-4D9C-805E-F7D91DB367EF}" type="slidenum">
              <a:rPr lang="en-IN" smtClean="0"/>
              <a:t>12</a:t>
            </a:fld>
            <a:endParaRPr lang="en-IN"/>
          </a:p>
        </p:txBody>
      </p:sp>
      <p:pic>
        <p:nvPicPr>
          <p:cNvPr id="2097168" name="Picture 6"/>
          <p:cNvPicPr/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233045" y="149860"/>
            <a:ext cx="1087120" cy="1343025"/>
          </a:xfrm>
          <a:prstGeom prst="rect">
            <a:avLst/>
          </a:prstGeom>
          <a:noFill/>
        </p:spPr>
      </p:pic>
      <p:pic>
        <p:nvPicPr>
          <p:cNvPr id="2097169" name="Picture 7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532110" y="265430"/>
            <a:ext cx="140589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 descr="A Deep Dive on End-to-End Encryption: How Do Public Key Encryption Systems Work? | Surveillance Self-Defense">
            <a:extLst>
              <a:ext uri="{FF2B5EF4-FFF2-40B4-BE49-F238E27FC236}">
                <a16:creationId xmlns:a16="http://schemas.microsoft.com/office/drawing/2014/main" id="{36DE6D66-D8A8-B032-EA9C-2DD722B898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1578" y="1831974"/>
            <a:ext cx="4655127" cy="443694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5710452-701E-0595-7F8D-6E0CC426E432}"/>
              </a:ext>
            </a:extLst>
          </p:cNvPr>
          <p:cNvSpPr txBox="1"/>
          <p:nvPr/>
        </p:nvSpPr>
        <p:spPr>
          <a:xfrm>
            <a:off x="7852611" y="5558589"/>
            <a:ext cx="3764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Fig.10 File Transmission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CB463D5A-8A1A-32C9-1995-410DD1B5B1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9725" y="1492885"/>
            <a:ext cx="9792549" cy="4023709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454E3-759C-DFFC-F656-A68C16F8A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D0AF3-9F5E-4D9C-805E-F7D91DB367EF}" type="slidenum">
              <a:rPr lang="en-IN" smtClean="0"/>
              <a:t>13</a:t>
            </a:fld>
            <a:endParaRPr lang="en-IN"/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82467B7A-DEA6-1F99-B3D1-E36839688FC3}"/>
              </a:ext>
            </a:extLst>
          </p:cNvPr>
          <p:cNvPicPr/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233045" y="149860"/>
            <a:ext cx="1087120" cy="1343025"/>
          </a:xfrm>
          <a:prstGeom prst="rect">
            <a:avLst/>
          </a:prstGeom>
          <a:noFill/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4FFBB727-44DC-C44A-5758-1DE900CE6C41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532110" y="265430"/>
            <a:ext cx="140589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29E6086-E74A-BBB1-47B9-662B3489491A}"/>
              </a:ext>
            </a:extLst>
          </p:cNvPr>
          <p:cNvSpPr txBox="1"/>
          <p:nvPr/>
        </p:nvSpPr>
        <p:spPr>
          <a:xfrm>
            <a:off x="2209800" y="436651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Output</a:t>
            </a:r>
            <a:endParaRPr lang="en-IN" sz="1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65D9BA-0251-A07F-B1ED-55E85F2FE418}"/>
              </a:ext>
            </a:extLst>
          </p:cNvPr>
          <p:cNvSpPr txBox="1"/>
          <p:nvPr/>
        </p:nvSpPr>
        <p:spPr>
          <a:xfrm>
            <a:off x="4162925" y="5791200"/>
            <a:ext cx="36174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11 Transmission Files Overview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83388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9A1AC-2811-E23D-BF2A-AAB69C147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68440" cy="435133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lvl="0" algn="just"/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share files securely with other users , Assigns permissions for viewing, downloading, and modifying files.</a:t>
            </a:r>
          </a:p>
          <a:p>
            <a:pPr lvl="0" algn="just"/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only authorized users can access shared files , Prevents unauthorized file access and modification.</a:t>
            </a:r>
            <a:endParaRPr lang="en-IN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  <a:p>
            <a:pPr lvl="0"/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Control Lists (ACL) , Role-Based Access Control (RBAC)</a:t>
            </a:r>
          </a:p>
          <a:p>
            <a:pPr lvl="0"/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JDBC Connectivity , MySQL Database</a:t>
            </a:r>
          </a:p>
          <a:p>
            <a:pPr marL="0" indent="0">
              <a:buNone/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Parameters</a:t>
            </a:r>
          </a:p>
          <a:p>
            <a:pPr lvl="0"/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ID , File ID , Access Permission</a:t>
            </a:r>
            <a:endParaRPr lang="en-IN" sz="2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lvl="0"/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File Sharing</a:t>
            </a:r>
          </a:p>
          <a:p>
            <a:pPr lvl="0"/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Permission-Based Access</a:t>
            </a:r>
          </a:p>
          <a:p>
            <a:pPr lvl="0"/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Authorized File Downloads</a:t>
            </a:r>
          </a:p>
          <a:p>
            <a:pPr lvl="0"/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Controlled File Modification</a:t>
            </a:r>
          </a:p>
          <a:p>
            <a:pPr marL="0" indent="0">
              <a:buNone/>
            </a:pPr>
            <a:br>
              <a:rPr lang="en-IN" sz="1600" dirty="0"/>
            </a:b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840C6-2034-DB72-6CCC-0445325A7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D0AF3-9F5E-4D9C-805E-F7D91DB367EF}" type="slidenum">
              <a:rPr lang="en-IN" smtClean="0"/>
              <a:t>14</a:t>
            </a:fld>
            <a:endParaRPr lang="en-IN"/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5B3A3F34-D21D-823D-15E4-15B66F27EAE9}"/>
              </a:ext>
            </a:extLst>
          </p:cNvPr>
          <p:cNvPicPr/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233045" y="149860"/>
            <a:ext cx="1087120" cy="1343025"/>
          </a:xfrm>
          <a:prstGeom prst="rect">
            <a:avLst/>
          </a:prstGeom>
          <a:noFill/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356C31EF-1C60-2041-C60E-A03DD2E1CF0D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532110" y="265430"/>
            <a:ext cx="140589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3727E410-9FBC-16ED-2071-60B3549E1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8625" y="821372"/>
            <a:ext cx="8833485" cy="1111885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MODULE-4: </a:t>
            </a:r>
            <a:r>
              <a:rPr lang="en-IN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CONTROL &amp; FILE SHARING MODULE</a:t>
            </a:r>
            <a:br>
              <a:rPr lang="en-IN" b="1" dirty="0"/>
            </a:br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 descr="Custom File and Folder Permissions – AbacusNext-Client Services">
            <a:extLst>
              <a:ext uri="{FF2B5EF4-FFF2-40B4-BE49-F238E27FC236}">
                <a16:creationId xmlns:a16="http://schemas.microsoft.com/office/drawing/2014/main" id="{AEB865B8-72E3-1F1E-9709-7303BFD6B9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9100" y="2467769"/>
            <a:ext cx="3314700" cy="30670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CB4124-383D-7ECB-7D89-7C4026793E1B}"/>
              </a:ext>
            </a:extLst>
          </p:cNvPr>
          <p:cNvSpPr txBox="1"/>
          <p:nvPr/>
        </p:nvSpPr>
        <p:spPr>
          <a:xfrm>
            <a:off x="8610600" y="5630779"/>
            <a:ext cx="274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Fig.12 File Sharing Access Control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82818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2AE34BF2-A5D9-8D9D-721E-CF1B01164B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92237" y="1392488"/>
            <a:ext cx="4807526" cy="435133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77C1A-A40C-F04A-BA01-2120D4D00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D0AF3-9F5E-4D9C-805E-F7D91DB367EF}" type="slidenum">
              <a:rPr lang="en-IN" smtClean="0"/>
              <a:t>15</a:t>
            </a:fld>
            <a:endParaRPr lang="en-IN"/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FDAB2876-5339-2480-3550-7876E55951A4}"/>
              </a:ext>
            </a:extLst>
          </p:cNvPr>
          <p:cNvPicPr/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233045" y="149860"/>
            <a:ext cx="1087120" cy="1343025"/>
          </a:xfrm>
          <a:prstGeom prst="rect">
            <a:avLst/>
          </a:prstGeom>
          <a:noFill/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E8D2797A-61F8-584A-85A3-01E4817E61D3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532110" y="265430"/>
            <a:ext cx="140589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952D3D1-07DF-6C63-3D76-DFED72C46105}"/>
              </a:ext>
            </a:extLst>
          </p:cNvPr>
          <p:cNvSpPr txBox="1"/>
          <p:nvPr/>
        </p:nvSpPr>
        <p:spPr>
          <a:xfrm>
            <a:off x="2209800" y="436651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 Output</a:t>
            </a:r>
            <a:endParaRPr lang="en-IN" sz="1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AEB818-9637-7086-85D9-9468754B0CE7}"/>
              </a:ext>
            </a:extLst>
          </p:cNvPr>
          <p:cNvSpPr txBox="1"/>
          <p:nvPr/>
        </p:nvSpPr>
        <p:spPr>
          <a:xfrm>
            <a:off x="4178968" y="5999747"/>
            <a:ext cx="3441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Fig.13  File Sharing Page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41758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5CFC9-EE58-47D1-0380-6663AB4496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77742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lvl="0" algn="just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 all user activities in the system , Monitors file uploads, downloads, and sharing operations.</a:t>
            </a:r>
          </a:p>
          <a:p>
            <a:pPr lvl="0" algn="just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login and logout activities for security , Helps identify suspicious activities and improve system monitoring.</a:t>
            </a: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  <a:p>
            <a:pPr lvl="0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Logging Framework , MySQL Database , Timestamp Management , Network Monitoring</a:t>
            </a: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Parameters</a:t>
            </a:r>
          </a:p>
          <a:p>
            <a:pPr lvl="0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Activity , Timestamp , File Operation , Network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lvl="0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Logs</a:t>
            </a:r>
          </a:p>
          <a:p>
            <a:pPr lvl="0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Reports</a:t>
            </a:r>
          </a:p>
          <a:p>
            <a:pPr lvl="0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Activity Monitoring</a:t>
            </a:r>
          </a:p>
          <a:p>
            <a:pPr lvl="0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Audit Records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303AE-6EBC-C59A-ACAA-0C6FDEB46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D0AF3-9F5E-4D9C-805E-F7D91DB367EF}" type="slidenum">
              <a:rPr lang="en-IN" smtClean="0"/>
              <a:t>16</a:t>
            </a:fld>
            <a:endParaRPr lang="en-IN"/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4B6EAF78-E2A2-4C81-DAE4-E9E77273D8D6}"/>
              </a:ext>
            </a:extLst>
          </p:cNvPr>
          <p:cNvPicPr/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233045" y="149860"/>
            <a:ext cx="1087120" cy="1343025"/>
          </a:xfrm>
          <a:prstGeom prst="rect">
            <a:avLst/>
          </a:prstGeom>
          <a:noFill/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600FB29D-AF7B-733A-559E-23DB3A099F5F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532110" y="265430"/>
            <a:ext cx="140589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47E563CB-5F64-0F1E-34A7-B4FE0C567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9395" y="1052512"/>
            <a:ext cx="8833485" cy="1111885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MODULE-5: </a:t>
            </a:r>
            <a:r>
              <a:rPr lang="en-IN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AUDIT LOGGING &amp; NETWORK MONITORING MODULE</a:t>
            </a:r>
            <a:br>
              <a:rPr lang="en-IN" b="1" dirty="0"/>
            </a:br>
            <a:br>
              <a:rPr lang="en-IN" b="1" dirty="0"/>
            </a:br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 descr="Real-Time Monitoring of Audit Logs: Detecting Threats as They Happen">
            <a:extLst>
              <a:ext uri="{FF2B5EF4-FFF2-40B4-BE49-F238E27FC236}">
                <a16:creationId xmlns:a16="http://schemas.microsoft.com/office/drawing/2014/main" id="{F30651BA-9056-3C43-D0B7-4E63BF239C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9070" y="1995011"/>
            <a:ext cx="4838930" cy="40125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02F84FD-3B88-1532-7347-B1C5E7B9C0BA}"/>
              </a:ext>
            </a:extLst>
          </p:cNvPr>
          <p:cNvSpPr txBox="1"/>
          <p:nvPr/>
        </p:nvSpPr>
        <p:spPr>
          <a:xfrm>
            <a:off x="7427495" y="6176963"/>
            <a:ext cx="411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Fig.14 Audit Log Monitoring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62465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93D5F999-9728-B322-C199-5E6F9687FB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28629" y="1392488"/>
            <a:ext cx="7195016" cy="435133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946024-7624-4337-FAC4-EBE4C246B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D0AF3-9F5E-4D9C-805E-F7D91DB367EF}" type="slidenum">
              <a:rPr lang="en-IN" smtClean="0"/>
              <a:t>17</a:t>
            </a:fld>
            <a:endParaRPr lang="en-IN"/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BF6456B8-83C3-4AB7-1D94-D563052D2E68}"/>
              </a:ext>
            </a:extLst>
          </p:cNvPr>
          <p:cNvPicPr/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233045" y="149860"/>
            <a:ext cx="1087120" cy="1343025"/>
          </a:xfrm>
          <a:prstGeom prst="rect">
            <a:avLst/>
          </a:prstGeom>
          <a:noFill/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475BB43F-E257-EBA2-9A57-727278DB73A5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532110" y="265430"/>
            <a:ext cx="140589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947ECAF-92A4-1988-EAF5-EFFDA529DC11}"/>
              </a:ext>
            </a:extLst>
          </p:cNvPr>
          <p:cNvSpPr txBox="1"/>
          <p:nvPr/>
        </p:nvSpPr>
        <p:spPr>
          <a:xfrm>
            <a:off x="2374232" y="436651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 Output</a:t>
            </a:r>
            <a:endParaRPr lang="en-IN" sz="1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584F37-3441-8457-8DD9-BFD1E96BC2D8}"/>
              </a:ext>
            </a:extLst>
          </p:cNvPr>
          <p:cNvSpPr txBox="1"/>
          <p:nvPr/>
        </p:nvSpPr>
        <p:spPr>
          <a:xfrm>
            <a:off x="3970421" y="5855368"/>
            <a:ext cx="37698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Fig.15 Audit Log Monitoring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29780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7127" y="570895"/>
            <a:ext cx="8825345" cy="680659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D0AF3-9F5E-4D9C-805E-F7D91DB367EF}" type="slidenum">
              <a:rPr lang="en-IN" smtClean="0"/>
              <a:t>18</a:t>
            </a:fld>
            <a:endParaRPr lang="en-IN"/>
          </a:p>
        </p:txBody>
      </p:sp>
      <p:pic>
        <p:nvPicPr>
          <p:cNvPr id="11" name="Picture 6"/>
          <p:cNvPicPr/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357352" y="150063"/>
            <a:ext cx="1135117" cy="1342884"/>
          </a:xfrm>
          <a:prstGeom prst="rect">
            <a:avLst/>
          </a:prstGeom>
          <a:noFill/>
        </p:spPr>
      </p:pic>
      <p:pic>
        <p:nvPicPr>
          <p:cNvPr id="13" name="Picture 7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330730" y="150062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5ED021B-715D-C1B3-46B0-B44048301231}"/>
              </a:ext>
            </a:extLst>
          </p:cNvPr>
          <p:cNvSpPr txBox="1"/>
          <p:nvPr/>
        </p:nvSpPr>
        <p:spPr>
          <a:xfrm>
            <a:off x="1128452" y="1672387"/>
            <a:ext cx="9782693" cy="5074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>
              <a:lnSpc>
                <a:spcPct val="150000"/>
              </a:lnSpc>
            </a:pPr>
            <a:r>
              <a:rPr lang="en-IN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0" marR="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Developed a secure client-server file transfer and sharing system using Java.</a:t>
            </a:r>
          </a:p>
          <a:p>
            <a:pPr marL="0" marR="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Protected user accounts with </a:t>
            </a:r>
            <a:r>
              <a:rPr lang="en-IN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r>
              <a:rPr lang="en-IN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authentication</a:t>
            </a: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and files with </a:t>
            </a:r>
            <a:r>
              <a:rPr lang="en-IN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AES encryption</a:t>
            </a: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Enabled secure file storage and permission-based file sharing using </a:t>
            </a:r>
            <a:r>
              <a:rPr lang="en-IN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RBAC</a:t>
            </a: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IN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ACL</a:t>
            </a: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Ensured reliable communication through </a:t>
            </a:r>
            <a:r>
              <a:rPr lang="en-IN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TCP/IP socket programming</a:t>
            </a: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Improved system security by maintaining audit logs and monitoring user activities.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 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storage integration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Multi-factor authentication (MFA)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support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security alerts</a:t>
            </a:r>
          </a:p>
          <a:p>
            <a:pPr marR="0" lvl="0" algn="just">
              <a:lnSpc>
                <a:spcPct val="150000"/>
              </a:lnSpc>
            </a:pPr>
            <a:endParaRPr lang="en-IN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Title 1"/>
          <p:cNvSpPr>
            <a:spLocks noGrp="1"/>
          </p:cNvSpPr>
          <p:nvPr>
            <p:ph type="title"/>
          </p:nvPr>
        </p:nvSpPr>
        <p:spPr>
          <a:xfrm>
            <a:off x="2051338" y="684126"/>
            <a:ext cx="7030720" cy="634365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APPLICATIONS &amp; BENEFITS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3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D0AF3-9F5E-4D9C-805E-F7D91DB367EF}" type="slidenum">
              <a:rPr lang="en-IN" smtClean="0"/>
              <a:t>19</a:t>
            </a:fld>
            <a:endParaRPr lang="en-IN"/>
          </a:p>
        </p:txBody>
      </p:sp>
      <p:pic>
        <p:nvPicPr>
          <p:cNvPr id="2097164" name="Picture 6"/>
          <p:cNvPicPr/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13325" y="107436"/>
            <a:ext cx="1135117" cy="1342884"/>
          </a:xfrm>
          <a:prstGeom prst="rect">
            <a:avLst/>
          </a:prstGeom>
          <a:noFill/>
        </p:spPr>
      </p:pic>
      <p:pic>
        <p:nvPicPr>
          <p:cNvPr id="2097165" name="Picture 7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330730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The Best SFTP Software for Secure File Transfers in 2024 | Cleo">
            <a:extLst>
              <a:ext uri="{FF2B5EF4-FFF2-40B4-BE49-F238E27FC236}">
                <a16:creationId xmlns:a16="http://schemas.microsoft.com/office/drawing/2014/main" id="{3CC2091F-309F-CECE-46A5-E4AD3A3E8A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1534510"/>
            <a:ext cx="4754880" cy="22572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CFF4DE4-F5EC-75AD-2B96-B6485E23DCC5}"/>
              </a:ext>
            </a:extLst>
          </p:cNvPr>
          <p:cNvSpPr txBox="1"/>
          <p:nvPr/>
        </p:nvSpPr>
        <p:spPr>
          <a:xfrm>
            <a:off x="520872" y="3923607"/>
            <a:ext cx="504582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Applications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for secure document sharing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Hospitals for sharing patient records securely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Banks for transferring confidential financial documents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institutions for sharing study materials and reports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and enterprise file management systems</a:t>
            </a:r>
          </a:p>
          <a:p>
            <a:br>
              <a:rPr lang="en-IN" dirty="0"/>
            </a:b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19F2FC-E00A-AF17-4E3F-5DB567C38D75}"/>
              </a:ext>
            </a:extLst>
          </p:cNvPr>
          <p:cNvSpPr txBox="1"/>
          <p:nvPr/>
        </p:nvSpPr>
        <p:spPr>
          <a:xfrm>
            <a:off x="7115695" y="4081051"/>
            <a:ext cx="462187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Benefits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file transfer using AES encryption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user authentication with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Controlled access using RBAC and ACL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 file storage and easy file management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Audit logging for monitoring user activities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communication through TCP/IP</a:t>
            </a:r>
          </a:p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305612-D837-FF85-187D-FC8050D4305B}"/>
              </a:ext>
            </a:extLst>
          </p:cNvPr>
          <p:cNvSpPr txBox="1"/>
          <p:nvPr/>
        </p:nvSpPr>
        <p:spPr>
          <a:xfrm>
            <a:off x="4427621" y="3793090"/>
            <a:ext cx="33367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Fig.16 Applications and Benefits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2" name="TextBox 4"/>
          <p:cNvSpPr txBox="1"/>
          <p:nvPr/>
        </p:nvSpPr>
        <p:spPr>
          <a:xfrm>
            <a:off x="1853565" y="544195"/>
            <a:ext cx="765810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32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32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75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D0AF3-9F5E-4D9C-805E-F7D91DB367EF}" type="slidenum">
              <a:rPr lang="en-IN" smtClean="0"/>
              <a:t>20</a:t>
            </a:fld>
            <a:endParaRPr lang="en-IN"/>
          </a:p>
        </p:txBody>
      </p:sp>
      <p:pic>
        <p:nvPicPr>
          <p:cNvPr id="2097180" name="Picture 1"/>
          <p:cNvPicPr/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2097181" name="Picture 3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330730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829945" y="1784350"/>
            <a:ext cx="10523220" cy="4303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Rath, S., Priyadarshini, B., Patel, D. K., Sahu, P. K., Jagadev, N., Panda, M., Patra, N., &amp; Sahoo, S. (2024).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AES-RSA: An Innovative Hybrid Security Framework for File Authentication, Integrity, and Data Secrecy Model.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International Journal of Intelligent Systems and Applications in Engineering. 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Ganeeb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K. K., Jayaram, V., Krishnappa, M. S., Gupta, P., Nagpal, A.,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Banarse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R., &amp;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Aarella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G. (2024).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Encryption Techniques for Securing Data Transfer in Cloud Computing: A Comparative Analysis of Classical and Quantum-Resistant Methods.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International Journal of Computer Applications. 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Liauren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 M., Zaman, B., &amp; Bahri, S. (2025).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AES and </a:t>
            </a:r>
            <a:r>
              <a:rPr lang="en-I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Algorithms for Securing User Data on the </a:t>
            </a:r>
            <a:r>
              <a:rPr lang="en-I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Jahitku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KHARISMA Tech, 20(1), 57–71. 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Sai Kumar, J., &amp; Bhaskara Murthy, V. (2025).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File Transfer Using AES &amp; RSA Algorithms.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International Journal of Engineering Research and Science &amp; Technology, 21(2), 1282–1289. 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Widianti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F., Khair, F., Widodo, A. M., &amp; Cahyadi, E. F. (2026).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Socket-based File Transfer System using AES-256 and OTP Authentication.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JURNAL INFOTEL, 18(1), 114–127. 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6" name="Title 1"/>
          <p:cNvSpPr>
            <a:spLocks noGrp="1"/>
          </p:cNvSpPr>
          <p:nvPr>
            <p:ph type="ctrTitle"/>
          </p:nvPr>
        </p:nvSpPr>
        <p:spPr>
          <a:xfrm>
            <a:off x="1797685" y="2397125"/>
            <a:ext cx="8696325" cy="1372870"/>
          </a:xfrm>
        </p:spPr>
        <p:txBody>
          <a:bodyPr>
            <a:normAutofit/>
          </a:bodyPr>
          <a:lstStyle/>
          <a:p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104868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D0AF3-9F5E-4D9C-805E-F7D91DB367EF}" type="slidenum">
              <a:rPr lang="en-IN" smtClean="0"/>
              <a:t>21</a:t>
            </a:fld>
            <a:endParaRPr lang="en-IN"/>
          </a:p>
        </p:txBody>
      </p:sp>
      <p:pic>
        <p:nvPicPr>
          <p:cNvPr id="2" name="Picture 1"/>
          <p:cNvPicPr/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3" name="Picture 3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330730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1498</Words>
  <Application>Microsoft Office PowerPoint</Application>
  <PresentationFormat>Widescreen</PresentationFormat>
  <Paragraphs>203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Times New Roman</vt:lpstr>
      <vt:lpstr>Office Theme</vt:lpstr>
      <vt:lpstr>Design and Implementation of a Secure Network-Based File Transfer and Sharing System</vt:lpstr>
      <vt:lpstr>INTRODUCTION</vt:lpstr>
      <vt:lpstr>   PROBLEM STATEMENT </vt:lpstr>
      <vt:lpstr>PowerPoint Presentation</vt:lpstr>
      <vt:lpstr>LITERATURE SURVEY</vt:lpstr>
      <vt:lpstr>  SYSTEM ARCHITECTURE</vt:lpstr>
      <vt:lpstr>PowerPoint Presentation</vt:lpstr>
      <vt:lpstr>MODULE-1: AUTHENTICATION &amp; AUTHORIZATION MODULE </vt:lpstr>
      <vt:lpstr>Module 1 Output</vt:lpstr>
      <vt:lpstr>MODULE-2: SECURE FILE STORAGE MODULE </vt:lpstr>
      <vt:lpstr>PowerPoint Presentation</vt:lpstr>
      <vt:lpstr> MODULE-3: ENCRYPTED FILE TRANSMISSION MODULE </vt:lpstr>
      <vt:lpstr>PowerPoint Presentation</vt:lpstr>
      <vt:lpstr> MODULE-4: ACCESS CONTROL &amp; FILE SHARING MODULE  </vt:lpstr>
      <vt:lpstr>PowerPoint Presentation</vt:lpstr>
      <vt:lpstr> MODULE-5: AUDIT LOGGING &amp; NETWORK MONITORING MODULE   </vt:lpstr>
      <vt:lpstr>PowerPoint Presentation</vt:lpstr>
      <vt:lpstr>CONCLUSION</vt:lpstr>
      <vt:lpstr>APPLICATIONS &amp; BENEFITS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Type Interface Assistant: AI-Powered Tooling</dc:title>
  <dc:creator>RUTHIN</dc:creator>
  <cp:lastModifiedBy>SREE RUTHIN REDDY</cp:lastModifiedBy>
  <cp:revision>28</cp:revision>
  <dcterms:created xsi:type="dcterms:W3CDTF">2025-03-18T18:21:00Z</dcterms:created>
  <dcterms:modified xsi:type="dcterms:W3CDTF">2026-08-26T09:06:12Z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dfcbbeb4989f4717812aba4d2584f0e8</vt:lpwstr>
  </property>
  <property fmtid="{D5CDD505-2E9C-101B-9397-08002B2CF9AE}" pid="3" name="KSOProductBuildVer">
    <vt:lpwstr>1033-12.2.0.23131</vt:lpwstr>
  </property>
</Properties>
</file>